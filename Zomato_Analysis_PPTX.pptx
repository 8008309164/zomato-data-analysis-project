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9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8" r:id="rId9"/>
    <p:sldId id="287" r:id="rId10"/>
    <p:sldId id="279" r:id="rId11"/>
    <p:sldId id="269" r:id="rId12"/>
    <p:sldId id="267" r:id="rId13"/>
    <p:sldId id="285" r:id="rId14"/>
    <p:sldId id="263" r:id="rId15"/>
    <p:sldId id="264" r:id="rId16"/>
    <p:sldId id="268" r:id="rId17"/>
    <p:sldId id="286" r:id="rId18"/>
    <p:sldId id="284" r:id="rId19"/>
    <p:sldId id="265" r:id="rId20"/>
    <p:sldId id="266" r:id="rId21"/>
    <p:sldId id="280" r:id="rId22"/>
    <p:sldId id="270" r:id="rId23"/>
    <p:sldId id="271" r:id="rId24"/>
    <p:sldId id="273" r:id="rId25"/>
    <p:sldId id="274" r:id="rId26"/>
    <p:sldId id="283" r:id="rId27"/>
    <p:sldId id="275" r:id="rId28"/>
    <p:sldId id="289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3333" autoAdjust="0"/>
  </p:normalViewPr>
  <p:slideViewPr>
    <p:cSldViewPr snapToGrid="0" snapToObjects="1">
      <p:cViewPr varScale="1">
        <p:scale>
          <a:sx n="66" d="100"/>
          <a:sy n="66" d="100"/>
        </p:scale>
        <p:origin x="57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ar\AppData\Roaming\Microsoft\Excel\zomato_analysis_book%2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otar\Documents\ZOMATO_Dashboard_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ar\AppData\Roaming\Microsoft\Excel\zomato_analysis_book%2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otar\Desktop\zomato_analysis_book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otar\Desktop\zomato_analysis_book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ar\AppData\Roaming\Microsoft\Excel\zomato_analysis_book%20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ar\AppData\Roaming\Microsoft\Excel\zomato_analysis_book%20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ar\AppData\Roaming\Microsoft\Excel\zomato_analysis_book%20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ar\AppData\Roaming\Microsoft\Excel\zomato_analysis_book%20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[zomato_analysis_book 2.xlsx]Pivot Table 1!PivotTable4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i="0" baseline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Country wise Restaurants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'Pivot Table 1'!$B$35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 1'!$A$36:$A$51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'Pivot Table 1'!$B$36:$B$51</c:f>
              <c:numCache>
                <c:formatCode>General</c:formatCode>
                <c:ptCount val="15"/>
                <c:pt idx="0">
                  <c:v>24</c:v>
                </c:pt>
                <c:pt idx="1">
                  <c:v>60</c:v>
                </c:pt>
                <c:pt idx="2">
                  <c:v>4</c:v>
                </c:pt>
                <c:pt idx="3">
                  <c:v>8652</c:v>
                </c:pt>
                <c:pt idx="4">
                  <c:v>21</c:v>
                </c:pt>
                <c:pt idx="5">
                  <c:v>40</c:v>
                </c:pt>
                <c:pt idx="6">
                  <c:v>22</c:v>
                </c:pt>
                <c:pt idx="7">
                  <c:v>20</c:v>
                </c:pt>
                <c:pt idx="8">
                  <c:v>20</c:v>
                </c:pt>
                <c:pt idx="9">
                  <c:v>60</c:v>
                </c:pt>
                <c:pt idx="10">
                  <c:v>20</c:v>
                </c:pt>
                <c:pt idx="11">
                  <c:v>34</c:v>
                </c:pt>
                <c:pt idx="12">
                  <c:v>60</c:v>
                </c:pt>
                <c:pt idx="13">
                  <c:v>80</c:v>
                </c:pt>
                <c:pt idx="14">
                  <c:v>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31-4681-84CF-F6FCFE9F48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677251615"/>
        <c:axId val="1676735535"/>
        <c:axId val="0"/>
      </c:bar3DChart>
      <c:catAx>
        <c:axId val="16772516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Country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735535"/>
        <c:crosses val="autoZero"/>
        <c:auto val="1"/>
        <c:lblAlgn val="ctr"/>
        <c:lblOffset val="100"/>
        <c:noMultiLvlLbl val="0"/>
      </c:catAx>
      <c:valAx>
        <c:axId val="1676735535"/>
        <c:scaling>
          <c:logBase val="10"/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RestaurantsID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251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Year-Wise Restaurants</a:t>
            </a:r>
            <a:r>
              <a:rPr lang="en-US" baseline="0" dirty="0"/>
              <a:t> 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'Pivot Table 1'!$B$59</c:f>
              <c:strCache>
                <c:ptCount val="1"/>
                <c:pt idx="0">
                  <c:v>COUNT of RestaurantID</c:v>
                </c:pt>
              </c:strCache>
            </c:strRef>
          </c:tx>
          <c:spPr>
            <a:solidFill>
              <a:srgbClr val="CC0000"/>
            </a:solidFill>
            <a:ln cmpd="sng">
              <a:solidFill>
                <a:srgbClr val="000000"/>
              </a:solidFill>
            </a:ln>
          </c:spPr>
          <c:invertIfNegative val="1"/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0-9105-4DBD-AF26-78320632E740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'Pivot Table 1'!$A$60:$A$68</c:f>
              <c:numCache>
                <c:formatCode>General</c:formatCod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numCache>
            </c:numRef>
          </c:cat>
          <c:val>
            <c:numRef>
              <c:f>'Pivot Table 1'!$B$60:$B$68</c:f>
              <c:numCache>
                <c:formatCode>General</c:formatCode>
                <c:ptCount val="9"/>
                <c:pt idx="0">
                  <c:v>1080</c:v>
                </c:pt>
                <c:pt idx="1">
                  <c:v>1098</c:v>
                </c:pt>
                <c:pt idx="2">
                  <c:v>1022</c:v>
                </c:pt>
                <c:pt idx="3">
                  <c:v>1061</c:v>
                </c:pt>
                <c:pt idx="4">
                  <c:v>1051</c:v>
                </c:pt>
                <c:pt idx="5">
                  <c:v>1024</c:v>
                </c:pt>
                <c:pt idx="6">
                  <c:v>1027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solidFill>
                      <a:srgbClr val="00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105-4DBD-AF26-78320632E7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17366975"/>
        <c:axId val="1180706469"/>
      </c:barChart>
      <c:catAx>
        <c:axId val="1717366975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r>
                  <a:rPr lang="en-IN" b="0">
                    <a:solidFill>
                      <a:srgbClr val="000000"/>
                    </a:solidFill>
                    <a:latin typeface="+mn-lt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 lvl="0">
              <a:defRPr b="0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1180706469"/>
        <c:crosses val="autoZero"/>
        <c:auto val="1"/>
        <c:lblAlgn val="ctr"/>
        <c:lblOffset val="100"/>
        <c:noMultiLvlLbl val="1"/>
      </c:catAx>
      <c:valAx>
        <c:axId val="1180706469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r>
                  <a:rPr lang="en-IN" b="0">
                    <a:solidFill>
                      <a:srgbClr val="000000"/>
                    </a:solidFill>
                    <a:latin typeface="+mn-lt"/>
                  </a:rPr>
                  <a:t>COUNT of RestaurantID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/>
        </c:spPr>
        <c:txPr>
          <a:bodyPr/>
          <a:lstStyle/>
          <a:p>
            <a:pPr lvl="0">
              <a:defRPr b="0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1717366975"/>
        <c:crosses val="autoZero"/>
        <c:crossBetween val="between"/>
      </c:valAx>
    </c:plotArea>
    <c:legend>
      <c:legendPos val="r"/>
      <c:overlay val="0"/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[zomato_analysis_book 2.xlsx]Pivot Table 1!PivotTable5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i="0" baseline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Average Rating Country wise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5066426071741032"/>
          <c:y val="0.24476633129192185"/>
          <c:w val="0.78015048118985131"/>
          <c:h val="0.29608340624088658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'Pivot Table 1'!$B$72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 1'!$A$73:$A$88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'Pivot Table 1'!$B$73:$B$88</c:f>
              <c:numCache>
                <c:formatCode>0.0</c:formatCode>
                <c:ptCount val="15"/>
                <c:pt idx="0">
                  <c:v>3.6583333333333337</c:v>
                </c:pt>
                <c:pt idx="1">
                  <c:v>3.8466666666666667</c:v>
                </c:pt>
                <c:pt idx="2">
                  <c:v>3.5750000000000002</c:v>
                </c:pt>
                <c:pt idx="3">
                  <c:v>2.7705501618122987</c:v>
                </c:pt>
                <c:pt idx="4">
                  <c:v>4.295238095238096</c:v>
                </c:pt>
                <c:pt idx="5">
                  <c:v>4.2624999999999993</c:v>
                </c:pt>
                <c:pt idx="6">
                  <c:v>4.4681818181818187</c:v>
                </c:pt>
                <c:pt idx="7">
                  <c:v>4.0599999999999996</c:v>
                </c:pt>
                <c:pt idx="8">
                  <c:v>3.5750000000000002</c:v>
                </c:pt>
                <c:pt idx="9">
                  <c:v>4.2100000000000009</c:v>
                </c:pt>
                <c:pt idx="10">
                  <c:v>3.87</c:v>
                </c:pt>
                <c:pt idx="11">
                  <c:v>4.3</c:v>
                </c:pt>
                <c:pt idx="12">
                  <c:v>4.2333333333333352</c:v>
                </c:pt>
                <c:pt idx="13">
                  <c:v>4.0999999999999996</c:v>
                </c:pt>
                <c:pt idx="14">
                  <c:v>4.011290322580642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AF-4CB4-8ACB-6B4DB54BBB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85536687"/>
        <c:axId val="362430095"/>
        <c:axId val="0"/>
      </c:bar3DChart>
      <c:catAx>
        <c:axId val="1855366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Country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2430095"/>
        <c:crosses val="autoZero"/>
        <c:auto val="1"/>
        <c:lblAlgn val="ctr"/>
        <c:lblOffset val="100"/>
        <c:noMultiLvlLbl val="0"/>
      </c:catAx>
      <c:valAx>
        <c:axId val="362430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Average</a:t>
                </a:r>
                <a:r>
                  <a:rPr lang="en-US" baseline="0" dirty="0"/>
                  <a:t> of Rating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536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lvl="0">
              <a:defRPr b="1">
                <a:solidFill>
                  <a:schemeClr val="lt1"/>
                </a:solidFill>
                <a:latin typeface="+mn-lt"/>
              </a:defRPr>
            </a:pPr>
            <a:r>
              <a:rPr lang="en-IN" b="1">
                <a:solidFill>
                  <a:schemeClr val="lt1"/>
                </a:solidFill>
                <a:latin typeface="+mn-lt"/>
              </a:rPr>
              <a:t> Average_Cost_for_two_INR vs Country Name</a:t>
            </a:r>
          </a:p>
        </c:rich>
      </c:tx>
      <c:overlay val="0"/>
    </c:title>
    <c:autoTitleDeleted val="0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1"/>
        <c:ser>
          <c:idx val="0"/>
          <c:order val="0"/>
          <c:tx>
            <c:strRef>
              <c:f>'Pivot Table 1'!$K$177</c:f>
              <c:strCache>
                <c:ptCount val="1"/>
                <c:pt idx="0">
                  <c:v>AVERAGE of Average_Cost_for_two_INR</c:v>
                </c:pt>
              </c:strCache>
            </c:strRef>
          </c:tx>
          <c:spPr>
            <a:solidFill>
              <a:srgbClr val="CC0000"/>
            </a:solidFill>
            <a:ln cmpd="sng">
              <a:solidFill>
                <a:srgbClr val="000000"/>
              </a:solidFill>
            </a:ln>
          </c:spPr>
          <c:invertIfNegative val="1"/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0-2181-493C-86C2-A72BB5A665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 lvl="0"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'Pivot Table 1'!$J$178:$J$192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'Pivot Table 1'!$K$178:$K$192</c:f>
              <c:numCache>
                <c:formatCode>0</c:formatCode>
                <c:ptCount val="15"/>
                <c:pt idx="0">
                  <c:v>1453.1883333333335</c:v>
                </c:pt>
                <c:pt idx="1">
                  <c:v>2251.6266666666661</c:v>
                </c:pt>
                <c:pt idx="2">
                  <c:v>2354.7999999999997</c:v>
                </c:pt>
                <c:pt idx="3">
                  <c:v>623.37031900138697</c:v>
                </c:pt>
                <c:pt idx="4">
                  <c:v>1518.4285714285713</c:v>
                </c:pt>
                <c:pt idx="5">
                  <c:v>3608.1674999999996</c:v>
                </c:pt>
                <c:pt idx="6">
                  <c:v>2442.3636363636365</c:v>
                </c:pt>
                <c:pt idx="7">
                  <c:v>5542.2875000000004</c:v>
                </c:pt>
                <c:pt idx="8">
                  <c:v>10922.747500000001</c:v>
                </c:pt>
                <c:pt idx="9">
                  <c:v>2295.9413333333332</c:v>
                </c:pt>
                <c:pt idx="10">
                  <c:v>688.75</c:v>
                </c:pt>
                <c:pt idx="11">
                  <c:v>177.34264705882353</c:v>
                </c:pt>
                <c:pt idx="12">
                  <c:v>4090.5216666666661</c:v>
                </c:pt>
                <c:pt idx="13">
                  <c:v>5786.7468749999989</c:v>
                </c:pt>
                <c:pt idx="14">
                  <c:v>2361.7937788018403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solidFill>
                      <a:srgbClr val="00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181-493C-86C2-A72BB5A665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56017835"/>
        <c:axId val="364756610"/>
        <c:axId val="0"/>
      </c:bar3DChart>
      <c:catAx>
        <c:axId val="1556017835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r>
                  <a:rPr lang="en-IN" b="0">
                    <a:solidFill>
                      <a:srgbClr val="000000"/>
                    </a:solidFill>
                    <a:latin typeface="+mn-lt"/>
                  </a:rPr>
                  <a:t>Country Name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 lvl="0">
              <a:defRPr b="0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364756610"/>
        <c:crosses val="autoZero"/>
        <c:auto val="1"/>
        <c:lblAlgn val="ctr"/>
        <c:lblOffset val="100"/>
        <c:noMultiLvlLbl val="1"/>
      </c:catAx>
      <c:valAx>
        <c:axId val="36475661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minorGridlines>
          <c:spPr>
            <a:ln>
              <a:solidFill>
                <a:srgbClr val="CCCCCC">
                  <a:alpha val="0"/>
                </a:srgbClr>
              </a:solidFill>
            </a:ln>
          </c:spPr>
        </c:minorGridlines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r>
                  <a:rPr lang="en-IN" b="0">
                    <a:solidFill>
                      <a:srgbClr val="000000"/>
                    </a:solidFill>
                    <a:latin typeface="+mn-lt"/>
                  </a:rPr>
                  <a:t>AVERAGE of Average_Cost_for_two_INR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/>
        </c:spPr>
        <c:txPr>
          <a:bodyPr/>
          <a:lstStyle/>
          <a:p>
            <a:pPr lvl="0">
              <a:defRPr b="0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1556017835"/>
        <c:crosses val="autoZero"/>
        <c:crossBetween val="between"/>
      </c:valAx>
    </c:plotArea>
    <c:legend>
      <c:legendPos val="r"/>
      <c:overlay val="0"/>
      <c:txPr>
        <a:bodyPr/>
        <a:lstStyle/>
        <a:p>
          <a:pPr lvl="0">
            <a:defRPr b="0">
              <a:solidFill>
                <a:srgbClr val="1A1A1A"/>
              </a:solidFill>
              <a:latin typeface="+mn-lt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lvl="0">
              <a:defRPr b="1">
                <a:solidFill>
                  <a:srgbClr val="6AA84F"/>
                </a:solidFill>
                <a:latin typeface="+mn-lt"/>
              </a:defRPr>
            </a:pPr>
            <a:r>
              <a:rPr lang="en-IN" b="1">
                <a:solidFill>
                  <a:srgbClr val="6AA84F"/>
                </a:solidFill>
                <a:latin typeface="+mn-lt"/>
              </a:rPr>
              <a:t>TOP 10 CUISINES</a:t>
            </a:r>
          </a:p>
        </c:rich>
      </c:tx>
      <c:layout>
        <c:manualLayout>
          <c:xMode val="edge"/>
          <c:yMode val="edge"/>
          <c:x val="0.2531625051435068"/>
          <c:y val="3.2345013477088951E-2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CC0000"/>
              </a:solidFill>
            </c:spPr>
            <c:extLst>
              <c:ext xmlns:c16="http://schemas.microsoft.com/office/drawing/2014/chart" uri="{C3380CC4-5D6E-409C-BE32-E72D297353CC}">
                <c16:uniqueId val="{00000001-EDB3-472E-89C7-2B7B8BA118F1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3-EDB3-472E-89C7-2B7B8BA118F1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5-EDB3-472E-89C7-2B7B8BA118F1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7-EDB3-472E-89C7-2B7B8BA118F1}"/>
              </c:ext>
            </c:extLst>
          </c:dPt>
          <c:dPt>
            <c:idx val="4"/>
            <c:bubble3D val="0"/>
            <c:spPr>
              <a:solidFill>
                <a:srgbClr val="5B9BD5"/>
              </a:solidFill>
            </c:spPr>
            <c:extLst>
              <c:ext xmlns:c16="http://schemas.microsoft.com/office/drawing/2014/chart" uri="{C3380CC4-5D6E-409C-BE32-E72D297353CC}">
                <c16:uniqueId val="{00000009-EDB3-472E-89C7-2B7B8BA118F1}"/>
              </c:ext>
            </c:extLst>
          </c:dPt>
          <c:dPt>
            <c:idx val="5"/>
            <c:bubble3D val="0"/>
            <c:spPr>
              <a:solidFill>
                <a:srgbClr val="70AD47"/>
              </a:solidFill>
            </c:spPr>
            <c:extLst>
              <c:ext xmlns:c16="http://schemas.microsoft.com/office/drawing/2014/chart" uri="{C3380CC4-5D6E-409C-BE32-E72D297353CC}">
                <c16:uniqueId val="{0000000B-EDB3-472E-89C7-2B7B8BA118F1}"/>
              </c:ext>
            </c:extLst>
          </c:dPt>
          <c:dPt>
            <c:idx val="6"/>
            <c:bubble3D val="0"/>
            <c:spPr>
              <a:solidFill>
                <a:srgbClr val="DB4D4D"/>
              </a:solidFill>
            </c:spPr>
            <c:extLst>
              <c:ext xmlns:c16="http://schemas.microsoft.com/office/drawing/2014/chart" uri="{C3380CC4-5D6E-409C-BE32-E72D297353CC}">
                <c16:uniqueId val="{0000000D-EDB3-472E-89C7-2B7B8BA118F1}"/>
              </c:ext>
            </c:extLst>
          </c:dPt>
          <c:dPt>
            <c:idx val="7"/>
            <c:bubble3D val="0"/>
            <c:spPr>
              <a:solidFill>
                <a:srgbClr val="F2A46F"/>
              </a:solidFill>
            </c:spPr>
            <c:extLst>
              <c:ext xmlns:c16="http://schemas.microsoft.com/office/drawing/2014/chart" uri="{C3380CC4-5D6E-409C-BE32-E72D297353CC}">
                <c16:uniqueId val="{0000000F-EDB3-472E-89C7-2B7B8BA118F1}"/>
              </c:ext>
            </c:extLst>
          </c:dPt>
          <c:dPt>
            <c:idx val="8"/>
            <c:bubble3D val="0"/>
            <c:spPr>
              <a:solidFill>
                <a:srgbClr val="C0C0C0"/>
              </a:solidFill>
            </c:spPr>
            <c:extLst>
              <c:ext xmlns:c16="http://schemas.microsoft.com/office/drawing/2014/chart" uri="{C3380CC4-5D6E-409C-BE32-E72D297353CC}">
                <c16:uniqueId val="{00000011-EDB3-472E-89C7-2B7B8BA118F1}"/>
              </c:ext>
            </c:extLst>
          </c:dPt>
          <c:dPt>
            <c:idx val="9"/>
            <c:bubble3D val="0"/>
            <c:spPr>
              <a:solidFill>
                <a:srgbClr val="FFD34D"/>
              </a:solidFill>
            </c:spPr>
            <c:extLst>
              <c:ext xmlns:c16="http://schemas.microsoft.com/office/drawing/2014/chart" uri="{C3380CC4-5D6E-409C-BE32-E72D297353CC}">
                <c16:uniqueId val="{00000013-EDB3-472E-89C7-2B7B8BA118F1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'Pivot Table 1'!$E$337:$E$346</c:f>
              <c:strCache>
                <c:ptCount val="10"/>
                <c:pt idx="0">
                  <c:v>European, Asian, Indian</c:v>
                </c:pt>
                <c:pt idx="1">
                  <c:v>Cafe</c:v>
                </c:pt>
                <c:pt idx="2">
                  <c:v>Filipino, Mexican</c:v>
                </c:pt>
                <c:pt idx="3">
                  <c:v>Chinese</c:v>
                </c:pt>
                <c:pt idx="4">
                  <c:v>Bar Food</c:v>
                </c:pt>
                <c:pt idx="5">
                  <c:v>Desserts</c:v>
                </c:pt>
                <c:pt idx="6">
                  <c:v>Sunda, Indonesian</c:v>
                </c:pt>
                <c:pt idx="7">
                  <c:v>Seafood</c:v>
                </c:pt>
                <c:pt idx="8">
                  <c:v>World Cuisine</c:v>
                </c:pt>
                <c:pt idx="9">
                  <c:v>Japanese, Sushi</c:v>
                </c:pt>
              </c:strCache>
            </c:strRef>
          </c:cat>
          <c:val>
            <c:numRef>
              <c:f>'Pivot Table 1'!$F$337:$F$346</c:f>
              <c:numCache>
                <c:formatCode>General</c:formatCode>
                <c:ptCount val="10"/>
                <c:pt idx="0">
                  <c:v>4.9000000000000004</c:v>
                </c:pt>
                <c:pt idx="1">
                  <c:v>4.9000000000000004</c:v>
                </c:pt>
                <c:pt idx="2">
                  <c:v>4.9000000000000004</c:v>
                </c:pt>
                <c:pt idx="3">
                  <c:v>4.9000000000000004</c:v>
                </c:pt>
                <c:pt idx="4">
                  <c:v>4.9000000000000004</c:v>
                </c:pt>
                <c:pt idx="5">
                  <c:v>4.9000000000000004</c:v>
                </c:pt>
                <c:pt idx="6">
                  <c:v>4.9000000000000004</c:v>
                </c:pt>
                <c:pt idx="7">
                  <c:v>4.9000000000000004</c:v>
                </c:pt>
                <c:pt idx="8">
                  <c:v>4.9000000000000004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DB3-472E-89C7-2B7B8BA118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 lvl="0">
            <a:defRPr b="0">
              <a:solidFill>
                <a:srgbClr val="1A1A1A"/>
              </a:solidFill>
              <a:latin typeface="+mn-lt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[zomato_analysis_book 2.xlsx]Pivot Table 1!PivotTable4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i="0" baseline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Country wise Restaurants</a:t>
            </a:r>
          </a:p>
        </c:rich>
      </c:tx>
      <c:layout>
        <c:manualLayout>
          <c:xMode val="edge"/>
          <c:yMode val="edge"/>
          <c:x val="0.35940453317866833"/>
          <c:y val="3.04549944192488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'Pivot Table 1'!$B$35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 1'!$A$36:$A$51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'Pivot Table 1'!$B$36:$B$51</c:f>
              <c:numCache>
                <c:formatCode>General</c:formatCode>
                <c:ptCount val="15"/>
                <c:pt idx="0">
                  <c:v>24</c:v>
                </c:pt>
                <c:pt idx="1">
                  <c:v>60</c:v>
                </c:pt>
                <c:pt idx="2">
                  <c:v>4</c:v>
                </c:pt>
                <c:pt idx="3">
                  <c:v>8652</c:v>
                </c:pt>
                <c:pt idx="4">
                  <c:v>21</c:v>
                </c:pt>
                <c:pt idx="5">
                  <c:v>40</c:v>
                </c:pt>
                <c:pt idx="6">
                  <c:v>22</c:v>
                </c:pt>
                <c:pt idx="7">
                  <c:v>20</c:v>
                </c:pt>
                <c:pt idx="8">
                  <c:v>20</c:v>
                </c:pt>
                <c:pt idx="9">
                  <c:v>60</c:v>
                </c:pt>
                <c:pt idx="10">
                  <c:v>20</c:v>
                </c:pt>
                <c:pt idx="11">
                  <c:v>34</c:v>
                </c:pt>
                <c:pt idx="12">
                  <c:v>60</c:v>
                </c:pt>
                <c:pt idx="13">
                  <c:v>80</c:v>
                </c:pt>
                <c:pt idx="14">
                  <c:v>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5A-4438-8A37-15CE1994A6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677251615"/>
        <c:axId val="1676735535"/>
        <c:axId val="0"/>
      </c:bar3DChart>
      <c:catAx>
        <c:axId val="16772516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Country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735535"/>
        <c:crosses val="autoZero"/>
        <c:auto val="1"/>
        <c:lblAlgn val="ctr"/>
        <c:lblOffset val="100"/>
        <c:noMultiLvlLbl val="0"/>
      </c:catAx>
      <c:valAx>
        <c:axId val="1676735535"/>
        <c:scaling>
          <c:logBase val="10"/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err="1"/>
                  <a:t>RestaurantsID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251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[zomato_analysis_book 2.xlsx]Pivot Table 1!PivotTable6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i="0" baseline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Average of Votes Country wise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 1'!$B$95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 1'!$A$96:$A$111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'Pivot Table 1'!$B$96:$B$111</c:f>
              <c:numCache>
                <c:formatCode>0.0</c:formatCode>
                <c:ptCount val="15"/>
                <c:pt idx="0">
                  <c:v>111.41666666666667</c:v>
                </c:pt>
                <c:pt idx="1">
                  <c:v>19.616666666666667</c:v>
                </c:pt>
                <c:pt idx="2">
                  <c:v>103</c:v>
                </c:pt>
                <c:pt idx="3">
                  <c:v>137.21255201109571</c:v>
                </c:pt>
                <c:pt idx="4">
                  <c:v>772.09523809523807</c:v>
                </c:pt>
                <c:pt idx="5">
                  <c:v>243.02500000000001</c:v>
                </c:pt>
                <c:pt idx="6">
                  <c:v>407.40909090909093</c:v>
                </c:pt>
                <c:pt idx="7">
                  <c:v>163.80000000000001</c:v>
                </c:pt>
                <c:pt idx="8">
                  <c:v>31.9</c:v>
                </c:pt>
                <c:pt idx="9">
                  <c:v>315.16666666666669</c:v>
                </c:pt>
                <c:pt idx="10">
                  <c:v>146.44999999999999</c:v>
                </c:pt>
                <c:pt idx="11">
                  <c:v>431.47058823529414</c:v>
                </c:pt>
                <c:pt idx="12">
                  <c:v>493.51666666666665</c:v>
                </c:pt>
                <c:pt idx="13">
                  <c:v>205.48750000000001</c:v>
                </c:pt>
                <c:pt idx="14">
                  <c:v>428.22119815668202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30-4443-9E3A-DD3E0DF9A2D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03456783"/>
        <c:axId val="1903459183"/>
      </c:lineChart>
      <c:catAx>
        <c:axId val="19034567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Country</a:t>
                </a:r>
              </a:p>
              <a:p>
                <a:pPr>
                  <a:defRPr/>
                </a:pP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3459183"/>
        <c:crosses val="autoZero"/>
        <c:auto val="1"/>
        <c:lblAlgn val="ctr"/>
        <c:lblOffset val="100"/>
        <c:noMultiLvlLbl val="0"/>
      </c:catAx>
      <c:valAx>
        <c:axId val="1903459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Average</a:t>
                </a:r>
                <a:r>
                  <a:rPr lang="en-US" baseline="0" dirty="0"/>
                  <a:t> of votes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3456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[zomato_analysis_book 2.xlsx]Pivot Table 1!PivotTable13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i="0" baseline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Online Delivery Restaurants wsie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'Pivot Table 1'!$B$200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112-4450-963F-1D66FD18847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112-4450-963F-1D66FD18847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 1'!$A$201:$A$203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'Pivot Table 1'!$B$201:$B$203</c:f>
              <c:numCache>
                <c:formatCode>General</c:formatCode>
                <c:ptCount val="2"/>
                <c:pt idx="0">
                  <c:v>7100</c:v>
                </c:pt>
                <c:pt idx="1">
                  <c:v>2451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112-4450-963F-1D66FD1884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r>
              <a:rPr lang="en-US" b="1" i="0" baseline="0">
                <a:solidFill>
                  <a:sysClr val="windowText" lastClr="000000"/>
                </a:solidFill>
                <a:latin typeface="Times New Roman" panose="02020603050405020304" pitchFamily="18" charset="0"/>
              </a:rPr>
              <a:t>Average Rating  Online Delivery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565048118985129"/>
          <c:y val="0.22166447944006998"/>
          <c:w val="0.47190048118985128"/>
          <c:h val="0.63389909594634009"/>
        </c:manualLayout>
      </c:layout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2"/>
              <c:pt idx="0">
                <c:v>No</c:v>
              </c:pt>
              <c:pt idx="1">
                <c:v>Yes</c:v>
              </c:pt>
            </c:strLit>
          </c:cat>
          <c:val>
            <c:numLit>
              <c:formatCode>General</c:formatCode>
              <c:ptCount val="2"/>
              <c:pt idx="0">
                <c:v>2.7543098591549313</c:v>
              </c:pt>
              <c:pt idx="1">
                <c:v>3.2880048959608312</c:v>
              </c:pt>
            </c:numLit>
          </c:val>
          <c:extLst>
            <c:ext xmlns:c16="http://schemas.microsoft.com/office/drawing/2014/chart" uri="{C3380CC4-5D6E-409C-BE32-E72D297353CC}">
              <c16:uniqueId val="{00000000-B96F-48B4-AF91-9EFB82E101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9417711"/>
        <c:axId val="89418191"/>
      </c:barChart>
      <c:catAx>
        <c:axId val="89417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418191"/>
        <c:crosses val="autoZero"/>
        <c:auto val="1"/>
        <c:lblAlgn val="ctr"/>
        <c:lblOffset val="100"/>
        <c:noMultiLvlLbl val="0"/>
      </c:catAx>
      <c:valAx>
        <c:axId val="894181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417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73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confidently. State that the objective is to convert raw restaurant data into strategic expansion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this project focuses on strategic decision-making, not just Excel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dataset richness and multidimensional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cleaning ensures reliable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logical flow of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market saturation concept and why lower density reduces entry barriers.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growth trend reflects industry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adaptability and demand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correlation meaning clearly in simple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importance of engagement in modern food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moderate ratings allow differentiation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digital transformation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affordability and acceptance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saturated premium market increases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technical spreadsheet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scoring avoids subjective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execution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risk awareness and professional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Deliver final confident closing statement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9B95F-4860-56B4-4914-1F43EFEFD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A2C82-A068-D59E-626F-7E9286A8F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9C045-D641-5A36-0881-474C849B3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Deliver final confident closing statement and invite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F2AFA-EFD5-D180-7733-87BBB208F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10222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A57E2-D018-D55C-571D-886B4CF4C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1E210-EEDB-5D87-EAE0-8D6555A41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69A4-F501-B83A-7455-E9A07BD3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E1A8B-AAA5-49CA-AAC6-0B6BC7FD4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F8FE-BAA3-705E-9A6B-925696C62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1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502BC-84DB-AC00-7094-9C6B2A56F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F152-4942-917D-7CCD-5CBE65302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1FDE4-09F5-7F7D-B0DB-6194D5A5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BDF88-D665-E46F-FB3B-FC7D9373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09468-6666-AAFC-C43A-419E5A0D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17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DD18-5EE6-7E42-490A-9F969246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79000-4CDC-3FB6-DF9B-FECA5D8F6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EE12C-6357-E513-A59C-4125CD8A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910F6-B4E3-CB6B-E6B4-BDAFD405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96C05-0F3B-4582-7913-294C37B4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2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4AC8-8956-7964-640C-6C6800B28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2B0F6-4E8A-3F8D-5C8A-5DC3096E2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761DD-2946-D862-FFD9-7C2914E48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26FBB-9154-4503-DBAE-DE36BCD7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A5943-D3AF-474E-F2D0-D8909533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116AA-12CE-BC07-42BF-D8EA3901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0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17AC-4F88-DD38-5D75-3A10ABBC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66182-2878-B551-7BC6-464B9E12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80277-C2D5-8BF4-AA81-2B37987F2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5EB2B-5CE8-B353-F4D4-7C4C10034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9A749A-1963-FA29-288C-EDEA606592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338F51-0AB8-4125-4F13-1B586325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A732E-1AA5-C582-D130-BD1F99EC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6DE0F-859D-BA1F-FDBB-BE83FE40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1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4F89-401E-40EE-DA0F-46C51B443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87DE9-8314-DF89-5369-6C944926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729FA-B959-8ED0-144C-7B98AFA3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9A977-3720-159C-BB98-64036DB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4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3BA21-CFDA-E408-E47F-AB61A8A42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6F5A8C-019E-6E66-6A25-C5E6146A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70023-5424-0521-DA41-C19FD59C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66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E7BE-B4C9-33B4-8930-8FFE6019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04CF-C18C-6FF8-FB67-D78C64657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CECAD-E92B-A312-ACE1-2FD8D1792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2ACDD-8854-7953-21F1-C5869C9C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F98D6-33D6-65B3-A6DA-6EB48551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A146E-BF1E-5DEF-12AB-B5643A86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0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DCDA-39E1-D786-B318-E2549056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E238AE-9B55-C2F5-F431-ECA072F861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A4E40-6D6B-EF18-AFB5-0A5448E15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0934C-7E35-214E-BA9E-FF0DC81D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F084E-874E-B17D-B231-4FA9430B4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7D9B0-C8C4-9CFC-3386-A74B35E1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B43DA-721F-AAB9-0A97-972A3654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562EB-7955-9328-B4F8-D23184346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CFCDC-9DD3-1D3E-BD36-7B76911B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F7AB0-840A-4631-165F-2C496D36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2F5C2-726B-593B-C10D-6E26CE58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1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843EAE-D2F8-A0E2-B0B7-DAEF025CB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4BAA4-5B4C-0C91-69A1-8F99EF130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7C02F-B0A5-AD76-8BC6-28614CBB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BDFF5-3442-AD9B-DE67-FF8917AD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E0F2B-EDDC-B104-628A-EFF09684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7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B741E-335A-9E70-A5EE-CA640EC83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30208-0488-C4F1-087C-C1418B0E6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51F96-6728-3BD3-F8F8-7D14B6D49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78650-6D79-3C51-A69F-97CA5E931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B61F7-ABD1-618D-059A-3CE52D188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6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IN" dirty="0"/>
              <a:t>  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1BE61-FDD4-8965-EF73-E5BA4429A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9117"/>
            <a:ext cx="9144000" cy="4572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148CEE7-D4D2-C37E-DE65-2CD61778D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GLOBAL EXPANSION STRATEGY</a:t>
            </a:r>
            <a:b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CDE7E-800C-80D5-0C19-88CF724D0A09}"/>
              </a:ext>
            </a:extLst>
          </p:cNvPr>
          <p:cNvSpPr txBox="1"/>
          <p:nvPr/>
        </p:nvSpPr>
        <p:spPr>
          <a:xfrm>
            <a:off x="5562493" y="1379349"/>
            <a:ext cx="326718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Srinivas K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92D681-E2F0-BE97-8E3B-C4C0ACD032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03630"/>
            <a:ext cx="429059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Data Description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Objective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Data Cleaning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Data Analysis &amp; Visualizations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Expansion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Dashboard Demonstration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141" y="365126"/>
            <a:ext cx="78867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hired as a Consultant Data Analyst at Zomato.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management team wants to expand into new markets and open new restaurants.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task is to: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restaurant performance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high-potential countries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competition levels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suitable cities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dashboard-based reasoning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631"/>
            <a:ext cx="78867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1813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Rows: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9552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C7A1B8-B696-276C-87E6-51DE53CFD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172394"/>
              </p:ext>
            </p:extLst>
          </p:nvPr>
        </p:nvGraphicFramePr>
        <p:xfrm>
          <a:off x="628650" y="3347979"/>
          <a:ext cx="7886700" cy="332232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3978428983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5999468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43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Information</a:t>
                      </a:r>
                      <a:endParaRPr lang="en-IN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Restaurant ID, Restaurant Name, Address, Cuisines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647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Details</a:t>
                      </a:r>
                      <a:endParaRPr lang="en-IN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 Code, 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031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Features</a:t>
                      </a:r>
                      <a:endParaRPr lang="en-IN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 Online Delivery, Has Table Booking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06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&amp; Performance</a:t>
                      </a:r>
                      <a:endParaRPr lang="en-IN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Range, Average Cost for Two, Currency, Votes, Rating, Date Key Opening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3309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accurate analysis: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Removed duplicate Restaurant IDs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ratings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country names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VLOOKUP to map CountryCode to Country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Converted currencies into INR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Checked inconsistent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by Country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7980"/>
            <a:ext cx="506950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Used: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Pivot Table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Rows: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Values: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RestaurantID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(Count)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India has the highest restaurant concentration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countries have a very limited presence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AC22AAD-3213-0499-A6DE-A9270D48D2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1719241"/>
              </p:ext>
            </p:extLst>
          </p:nvPr>
        </p:nvGraphicFramePr>
        <p:xfrm>
          <a:off x="562474" y="4081112"/>
          <a:ext cx="8350520" cy="265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 by Year</a:t>
            </a:r>
            <a:endParaRPr sz="3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56117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Used: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Datekey_opening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trend visible after 2015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years show aggressive expansion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 title="Chart">
            <a:extLst>
              <a:ext uri="{FF2B5EF4-FFF2-40B4-BE49-F238E27FC236}">
                <a16:creationId xmlns:a16="http://schemas.microsoft.com/office/drawing/2014/main" id="{9D0FF9F0-AD00-DEA5-46F9-5ECA00795C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6747861"/>
              </p:ext>
            </p:extLst>
          </p:nvPr>
        </p:nvGraphicFramePr>
        <p:xfrm>
          <a:off x="4164872" y="4257491"/>
          <a:ext cx="4439301" cy="2235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ontent Placeholder 13">
            <a:extLst>
              <a:ext uri="{FF2B5EF4-FFF2-40B4-BE49-F238E27FC236}">
                <a16:creationId xmlns:a16="http://schemas.microsoft.com/office/drawing/2014/main" id="{4553E9C1-6A8A-064B-EEC3-5703C3B9B1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4330192"/>
              </p:ext>
            </p:extLst>
          </p:nvPr>
        </p:nvGraphicFramePr>
        <p:xfrm>
          <a:off x="441170" y="4257490"/>
          <a:ext cx="3634879" cy="2143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4074">
                  <a:extLst>
                    <a:ext uri="{9D8B030D-6E8A-4147-A177-3AD203B41FA5}">
                      <a16:colId xmlns:a16="http://schemas.microsoft.com/office/drawing/2014/main" val="1433827811"/>
                    </a:ext>
                  </a:extLst>
                </a:gridCol>
                <a:gridCol w="3050805">
                  <a:extLst>
                    <a:ext uri="{9D8B030D-6E8A-4147-A177-3AD203B41FA5}">
                      <a16:colId xmlns:a16="http://schemas.microsoft.com/office/drawing/2014/main" val="1973048456"/>
                    </a:ext>
                  </a:extLst>
                </a:gridCol>
              </a:tblGrid>
              <a:tr h="2143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COUNT of RestaurantID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84678973"/>
                  </a:ext>
                </a:extLst>
              </a:tr>
              <a:tr h="2143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74217650"/>
                  </a:ext>
                </a:extLst>
              </a:tr>
              <a:tr h="2143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1098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2487782"/>
                  </a:ext>
                </a:extLst>
              </a:tr>
              <a:tr h="2143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1022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75421039"/>
                  </a:ext>
                </a:extLst>
              </a:tr>
              <a:tr h="2143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90105665"/>
                  </a:ext>
                </a:extLst>
              </a:tr>
              <a:tr h="2143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48367041"/>
                  </a:ext>
                </a:extLst>
              </a:tr>
              <a:tr h="2143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35893298"/>
                  </a:ext>
                </a:extLst>
              </a:tr>
              <a:tr h="2143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43378947"/>
                  </a:ext>
                </a:extLst>
              </a:tr>
              <a:tr h="2143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1086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09256081"/>
                  </a:ext>
                </a:extLst>
              </a:tr>
              <a:tr h="21433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1102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1720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49D3B-0D86-5E29-0AFD-BA000AFC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3583-AD93-2414-1215-2D8EEE68F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48" y="-634"/>
            <a:ext cx="7886700" cy="1325563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4F82C-DE33-8765-D5BB-CDDF9B16F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8556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high quality across markets, with all average ratings clustered between 2.8 - 4.5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rating gap (0.24) confirms all five countries as low-risk, high-quality markets for expansion.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610D1F3-6917-3010-A5FD-BB169B58F7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1533899"/>
              </p:ext>
            </p:extLst>
          </p:nvPr>
        </p:nvGraphicFramePr>
        <p:xfrm>
          <a:off x="336884" y="2873468"/>
          <a:ext cx="8534370" cy="2835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5155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1DBC-DCFE-FCB0-A815-6946AAB3D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885B-FD29-227F-56A0-87815266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77007"/>
            <a:ext cx="7886700" cy="1325563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Cost For Two (INR)</a:t>
            </a: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520C29-E0D5-7D68-59D3-368DB3EDD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8556"/>
            <a:ext cx="78867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Singapore and UK are premium dining markets, with the highest average costs for two at ₹10922 and ₹5786 respectively.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 is the most cost-efficient market (₹146), while Indonesia remains highly affordable (₹1,080), indicating strong value-driven dining options.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 title="Chart">
            <a:extLst>
              <a:ext uri="{FF2B5EF4-FFF2-40B4-BE49-F238E27FC236}">
                <a16:creationId xmlns:a16="http://schemas.microsoft.com/office/drawing/2014/main" id="{00000000-0008-0000-0400-0000BAD43C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1584227"/>
              </p:ext>
            </p:extLst>
          </p:nvPr>
        </p:nvGraphicFramePr>
        <p:xfrm>
          <a:off x="1412660" y="3324225"/>
          <a:ext cx="5933670" cy="3533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1592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A6C9-B06E-6FF6-3A6F-6902CDF6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48" y="-634"/>
            <a:ext cx="7886700" cy="1325563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Cuisines</a:t>
            </a: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0D581-56FB-77AB-D622-183548831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8556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Cafe cuisine leads by scale, with 13 listings and a 4.29 average rating, indicating strong demand, consistent quality, and resilience in a highly competitive segment.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cuisines strike a balance: Indian and Indian, North Indian combine moderate presence with high customer satisfaction.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hart 3" title="Chart">
            <a:extLst>
              <a:ext uri="{FF2B5EF4-FFF2-40B4-BE49-F238E27FC236}">
                <a16:creationId xmlns:a16="http://schemas.microsoft.com/office/drawing/2014/main" id="{00000000-0008-0000-0400-0000DB6B8A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7675818"/>
              </p:ext>
            </p:extLst>
          </p:nvPr>
        </p:nvGraphicFramePr>
        <p:xfrm>
          <a:off x="1293145" y="3208721"/>
          <a:ext cx="6403705" cy="3533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5205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performing cuisines: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Food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Multi-Cuisine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Asian</a:t>
            </a: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cuisines show consistent ratings &amp; engagement.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529" y="18255"/>
            <a:ext cx="78867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Country-Level Competition Analysis</a:t>
            </a:r>
            <a:endParaRPr sz="3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41683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Bar Chart (Restaurant Count)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lesser competition identified.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AC22AAD-3213-0499-A6DE-A9270D48D2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5115063"/>
              </p:ext>
            </p:extLst>
          </p:nvPr>
        </p:nvGraphicFramePr>
        <p:xfrm>
          <a:off x="562473" y="2667246"/>
          <a:ext cx="8019053" cy="3685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BE65-0D20-5D0A-2B86-83BF4779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5"/>
            <a:ext cx="78867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Votes per Country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B979A-A073-DC7C-EB8A-5E99BE653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3818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 (Average of Votes)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high average votes show strong customer engagement.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0D1968-30DC-D989-ED4D-12898B5A14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5988313"/>
              </p:ext>
            </p:extLst>
          </p:nvPr>
        </p:nvGraphicFramePr>
        <p:xfrm>
          <a:off x="474342" y="3444891"/>
          <a:ext cx="3215810" cy="30847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4913">
                  <a:extLst>
                    <a:ext uri="{9D8B030D-6E8A-4147-A177-3AD203B41FA5}">
                      <a16:colId xmlns:a16="http://schemas.microsoft.com/office/drawing/2014/main" val="1466211252"/>
                    </a:ext>
                  </a:extLst>
                </a:gridCol>
                <a:gridCol w="1650897">
                  <a:extLst>
                    <a:ext uri="{9D8B030D-6E8A-4147-A177-3AD203B41FA5}">
                      <a16:colId xmlns:a16="http://schemas.microsoft.com/office/drawing/2014/main" val="2187556080"/>
                    </a:ext>
                  </a:extLst>
                </a:gridCol>
              </a:tblGrid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Country Name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 of Votes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84637700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Australia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111.4166667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84759162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Brazil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19.61666667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96181891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Canada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51158396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India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13.212552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27254181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Indonesia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772.0952381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8557972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New Zealand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243.025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17567948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Philippines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407.4090909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31011352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Qatar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163.8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51588179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Singapore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31.9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81035015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South Africa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315.1666667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14185582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Sri Lanka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146.45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60364173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Turkey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431.4705882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5148764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United Arab Emirates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493.5166667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40273437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United Kingdom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205.4875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7000806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United States of America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428.2211982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23123905"/>
                  </a:ext>
                </a:extLst>
              </a:tr>
              <a:tr h="181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156.9097477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6418336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E6E1AA8-5CBA-1BA5-B9EC-DC8B27EFEB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729990"/>
              </p:ext>
            </p:extLst>
          </p:nvPr>
        </p:nvGraphicFramePr>
        <p:xfrm>
          <a:off x="3844460" y="3444891"/>
          <a:ext cx="5030033" cy="3084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2490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in India with Price Range 4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13869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COUNTIFS function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= COUNTIFS('data cleaning'!D2:D9552,"India",'data cleaning'!Q2:Q9552,4)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388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Resataurants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located in India with a price range of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premium segment exists but is limited.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794FA-4D66-C47D-4E40-FC52C8186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33" y="4791295"/>
            <a:ext cx="5839640" cy="848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773" y="28242"/>
            <a:ext cx="78867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IF Function Analysis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4151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for: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Price_range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4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Online Delivery = Yes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+ AND + AVERAGE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=ROUND(AVERAGE(IF(('data cleaning'!Q2:Q9552 &lt;4)*('data cleaning'!N2:N9552="Yes"),'data cleaning'!V2:V9552)),2)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offering delivery have slightly better ratings.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78F73-9EE2-31AB-B8FA-E78DF6939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25" y="5486014"/>
            <a:ext cx="6544588" cy="10123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63" y="0"/>
            <a:ext cx="78867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Cities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32013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 + Filter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cities based on: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competition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votes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ratings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19A8-3877-B117-2BC1-6FACB2FA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057F-5BDB-7965-8007-664BB24FB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648" y="-634"/>
            <a:ext cx="78867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Formatting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D7B2D-AE88-F421-CFD9-2EBD82B60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31379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rows for suggested expansion countries: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 Lanka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Zealand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Indonesia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Philippines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Qatar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competition + good rating potential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633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CAE9-39C6-D41F-05B0-7D930A268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Countries for Expansion</a:t>
            </a:r>
            <a:b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CBEA0-E821-850F-20B0-7A478731B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69490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restaurant count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ratings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 Lanka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Indonesia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Philippines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Qatar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Zealand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A525CB-7DAB-4BF0-A55C-F07381089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725279"/>
              </p:ext>
            </p:extLst>
          </p:nvPr>
        </p:nvGraphicFramePr>
        <p:xfrm>
          <a:off x="3542097" y="3330341"/>
          <a:ext cx="5245766" cy="22041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209">
                  <a:extLst>
                    <a:ext uri="{9D8B030D-6E8A-4147-A177-3AD203B41FA5}">
                      <a16:colId xmlns:a16="http://schemas.microsoft.com/office/drawing/2014/main" val="1806536587"/>
                    </a:ext>
                  </a:extLst>
                </a:gridCol>
                <a:gridCol w="1737861">
                  <a:extLst>
                    <a:ext uri="{9D8B030D-6E8A-4147-A177-3AD203B41FA5}">
                      <a16:colId xmlns:a16="http://schemas.microsoft.com/office/drawing/2014/main" val="3868728374"/>
                    </a:ext>
                  </a:extLst>
                </a:gridCol>
                <a:gridCol w="1367761">
                  <a:extLst>
                    <a:ext uri="{9D8B030D-6E8A-4147-A177-3AD203B41FA5}">
                      <a16:colId xmlns:a16="http://schemas.microsoft.com/office/drawing/2014/main" val="92950806"/>
                    </a:ext>
                  </a:extLst>
                </a:gridCol>
                <a:gridCol w="1045935">
                  <a:extLst>
                    <a:ext uri="{9D8B030D-6E8A-4147-A177-3AD203B41FA5}">
                      <a16:colId xmlns:a16="http://schemas.microsoft.com/office/drawing/2014/main" val="1689550657"/>
                    </a:ext>
                  </a:extLst>
                </a:gridCol>
              </a:tblGrid>
              <a:tr h="31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Count of RestaurantID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 of Rating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Votes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6046503"/>
                  </a:ext>
                </a:extLst>
              </a:tr>
              <a:tr h="31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Indonesia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16214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19933273"/>
                  </a:ext>
                </a:extLst>
              </a:tr>
              <a:tr h="31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New Zealand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4.3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9721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4992796"/>
                  </a:ext>
                </a:extLst>
              </a:tr>
              <a:tr h="31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Philippines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4.5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8963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23802305"/>
                  </a:ext>
                </a:extLst>
              </a:tr>
              <a:tr h="31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Qatar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4.1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3276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25169063"/>
                  </a:ext>
                </a:extLst>
              </a:tr>
              <a:tr h="31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Sri Lanka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3.9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26698351"/>
                  </a:ext>
                </a:extLst>
              </a:tr>
              <a:tr h="31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Turkey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4.3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14670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268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268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46697" y="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Customised Price Column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465" y="1325563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column: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 1200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$ 50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concatenation formula.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=MID(L2,FIND("(",L2)+1,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LEN(L2)-FIND("(",L2)-1)&amp;" "&amp;S2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55703-B050-2B05-1F59-61295D10D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768" y="1426049"/>
            <a:ext cx="3791165" cy="41503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70" y="18255"/>
            <a:ext cx="78867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Formula Task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022" y="1416561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restaurants where: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Online Delivery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Range = 1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Cost ≤ 250 INR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COUNTIFS / Array Formula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=COUNTIFS('data cleaning'!N3:N9553,"No",'data cleaning'!Q3:Q9553,1,'data cleaning'!U3:U9553,"&lt;=250")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9524E2-C62C-D42F-86A0-E59C99773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17" y="4883261"/>
            <a:ext cx="6554115" cy="485843"/>
          </a:xfrm>
          <a:prstGeom prst="rect">
            <a:avLst/>
          </a:prstGeom>
          <a:pattFill prst="pct10">
            <a:fgClr>
              <a:schemeClr val="accent1">
                <a:lumMod val="75000"/>
              </a:schemeClr>
            </a:fgClr>
            <a:bgClr>
              <a:schemeClr val="bg1"/>
            </a:bgClr>
          </a:pattFill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734A-D625-104B-B6C4-BF1844D41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95" y="271577"/>
            <a:ext cx="7886700" cy="843757"/>
          </a:xfrm>
        </p:spPr>
        <p:txBody>
          <a:bodyPr>
            <a:no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Online Delivery</a:t>
            </a:r>
            <a:b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355063-FD39-4C4E-67F8-507ABAC9A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397994"/>
              </p:ext>
            </p:extLst>
          </p:nvPr>
        </p:nvGraphicFramePr>
        <p:xfrm>
          <a:off x="813281" y="1680500"/>
          <a:ext cx="6655656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83356">
                  <a:extLst>
                    <a:ext uri="{9D8B030D-6E8A-4147-A177-3AD203B41FA5}">
                      <a16:colId xmlns:a16="http://schemas.microsoft.com/office/drawing/2014/main" val="3866352505"/>
                    </a:ext>
                  </a:extLst>
                </a:gridCol>
                <a:gridCol w="1372300">
                  <a:extLst>
                    <a:ext uri="{9D8B030D-6E8A-4147-A177-3AD203B41FA5}">
                      <a16:colId xmlns:a16="http://schemas.microsoft.com/office/drawing/2014/main" val="3008445252"/>
                    </a:ext>
                  </a:extLst>
                </a:gridCol>
              </a:tblGrid>
              <a:tr h="3063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Has_Online_delivery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 of Rating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30086852"/>
                  </a:ext>
                </a:extLst>
              </a:tr>
              <a:tr h="3242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No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2.754309859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35061141"/>
                  </a:ext>
                </a:extLst>
              </a:tr>
              <a:tr h="3242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3.288004896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8174675"/>
                  </a:ext>
                </a:extLst>
              </a:tr>
              <a:tr h="1881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Grand Total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2.89126793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340533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A39BDD9-7F9A-318B-6610-47BC29E35452}"/>
              </a:ext>
            </a:extLst>
          </p:cNvPr>
          <p:cNvSpPr txBox="1"/>
          <p:nvPr/>
        </p:nvSpPr>
        <p:spPr>
          <a:xfrm>
            <a:off x="380144" y="1115334"/>
            <a:ext cx="2950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A7D82D2-1DC0-A23C-84FF-F99948B3F7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3422088"/>
              </p:ext>
            </p:extLst>
          </p:nvPr>
        </p:nvGraphicFramePr>
        <p:xfrm>
          <a:off x="380144" y="3248073"/>
          <a:ext cx="3912877" cy="2729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BE0CCC4-8B67-4F20-AD5C-15057717CF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8277936"/>
              </p:ext>
            </p:extLst>
          </p:nvPr>
        </p:nvGraphicFramePr>
        <p:xfrm>
          <a:off x="4850981" y="3367897"/>
          <a:ext cx="3172896" cy="2490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1767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13" y="18255"/>
            <a:ext cx="7886700" cy="1325563"/>
          </a:xfrm>
        </p:spPr>
        <p:txBody>
          <a:bodyPr>
            <a:normAutofit/>
          </a:bodyPr>
          <a:lstStyle/>
          <a:p>
            <a:r>
              <a:rPr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&amp; Advanced Logic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398" y="1546492"/>
            <a:ext cx="7886700" cy="4351338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COUNTIFS for filtered counts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+ AND helper column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 for statistical analysis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 formula for multi-condition counting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Country Scoring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Applied: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 – 30%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– 25%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 – 20%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– 25%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ranking method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38" y="18255"/>
            <a:ext cx="7886700" cy="1325563"/>
          </a:xfrm>
        </p:spPr>
        <p:txBody>
          <a:bodyPr>
            <a:normAutofit/>
          </a:bodyPr>
          <a:lstStyle/>
          <a:p>
            <a:r>
              <a:rPr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Entry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38998"/>
            <a:ext cx="7886700" cy="4351338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 pricing (Range 2–3)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online delivery from launch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popular cuisines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pilot expansion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41" y="66743"/>
            <a:ext cx="7886700" cy="1325563"/>
          </a:xfrm>
        </p:spPr>
        <p:txBody>
          <a:bodyPr>
            <a:normAutofit/>
          </a:bodyPr>
          <a:lstStyle/>
          <a:p>
            <a:r>
              <a:rPr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273" y="1527242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mismatch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Regulation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volatility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partnerships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scaling</a:t>
            </a: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research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5E34-9B23-23CD-9C06-FDE58DB9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392" y="721261"/>
            <a:ext cx="7886700" cy="1325563"/>
          </a:xfrm>
        </p:spPr>
        <p:txBody>
          <a:bodyPr>
            <a:normAutofit/>
          </a:bodyPr>
          <a:lstStyle/>
          <a:p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b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0A99A7-F74E-8E43-6420-5BF5C3DA1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" y="2046824"/>
            <a:ext cx="8980371" cy="334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59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391" y="259249"/>
            <a:ext cx="7886700" cy="1325563"/>
          </a:xfrm>
        </p:spPr>
        <p:txBody>
          <a:bodyPr>
            <a:normAutofit/>
          </a:bodyPr>
          <a:lstStyle/>
          <a:p>
            <a:r>
              <a:rPr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should expand into low-competition, moderate-cost markets using a digital-first and mid-range pricing strategy.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structured analytics supports strategic business decisions.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FF42C-51CC-9514-DAC8-100990F9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5EE9-3FC6-4CB8-DAB8-EC96B2B61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55" y="2372944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409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</TotalTime>
  <Words>1245</Words>
  <Application>Microsoft Office PowerPoint</Application>
  <PresentationFormat>On-screen Show (4:3)</PresentationFormat>
  <Paragraphs>307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Office Theme</vt:lpstr>
      <vt:lpstr> ZOMATO GLOBAL EXPANSION STRATEGY </vt:lpstr>
      <vt:lpstr>Agenda</vt:lpstr>
      <vt:lpstr>Problem Statement</vt:lpstr>
      <vt:lpstr>Data Overview</vt:lpstr>
      <vt:lpstr>Data Cleaning Process</vt:lpstr>
      <vt:lpstr>Restaurants by Country</vt:lpstr>
      <vt:lpstr>Restaurants by Year</vt:lpstr>
      <vt:lpstr>Average Rating</vt:lpstr>
      <vt:lpstr>Average Cost For Two (INR)</vt:lpstr>
      <vt:lpstr>Top 10 Cuisines</vt:lpstr>
      <vt:lpstr>Cuisine Performance Analysis</vt:lpstr>
      <vt:lpstr>Country-Level Competition Analysis</vt:lpstr>
      <vt:lpstr>Average Votes per Country</vt:lpstr>
      <vt:lpstr>   Restaurants in India with Price Range 4</vt:lpstr>
      <vt:lpstr>Conditional IF Function Analysis</vt:lpstr>
      <vt:lpstr>Suggested Cities</vt:lpstr>
      <vt:lpstr>Conditional Formatting</vt:lpstr>
      <vt:lpstr>Suggested Countries for Expansion </vt:lpstr>
      <vt:lpstr>Customised Price Column</vt:lpstr>
      <vt:lpstr>Array Formula Task</vt:lpstr>
      <vt:lpstr>Has Online Delivery </vt:lpstr>
      <vt:lpstr>Conditional &amp; Advanced Logic Used</vt:lpstr>
      <vt:lpstr>Weighted Country Scoring Model</vt:lpstr>
      <vt:lpstr>Strategic Entry Plan</vt:lpstr>
      <vt:lpstr>Risk &amp; Mitigation</vt:lpstr>
      <vt:lpstr>DASHBOARD </vt:lpstr>
      <vt:lpstr>Conclusion &amp; Final Recommendation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kotaru srinivas</dc:creator>
  <cp:keywords/>
  <dc:description>generated using python-pptx</dc:description>
  <cp:lastModifiedBy>kotaru srinivas</cp:lastModifiedBy>
  <cp:revision>8</cp:revision>
  <dcterms:created xsi:type="dcterms:W3CDTF">2013-01-27T09:14:16Z</dcterms:created>
  <dcterms:modified xsi:type="dcterms:W3CDTF">2026-03-25T16:34:26Z</dcterms:modified>
  <cp:category/>
</cp:coreProperties>
</file>